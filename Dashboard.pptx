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Ex1.xml" ContentType="application/vnd.ms-office.chartex+xml"/>
  <Override PartName="/ppt/charts/style2.xml" ContentType="application/vnd.ms-office.chartstyle+xml"/>
  <Override PartName="/ppt/charts/colors2.xml" ContentType="application/vnd.ms-office.chartcolorstyle+xml"/>
  <Override PartName="/ppt/charts/chartEx2.xml" ContentType="application/vnd.ms-office.chartex+xml"/>
  <Override PartName="/ppt/charts/style3.xml" ContentType="application/vnd.ms-office.chartstyle+xml"/>
  <Override PartName="/ppt/charts/colors3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0" d="100"/>
          <a:sy n="70" d="100"/>
        </p:scale>
        <p:origin x="738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user\Desktop\newdashboard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Ex1.xml.rels><?xml version="1.0" encoding="UTF-8" standalone="yes"?>
<Relationships xmlns="http://schemas.openxmlformats.org/package/2006/relationships"><Relationship Id="rId3" Type="http://schemas.microsoft.com/office/2011/relationships/chartColorStyle" Target="colors2.xml"/><Relationship Id="rId2" Type="http://schemas.microsoft.com/office/2011/relationships/chartStyle" Target="style2.xml"/><Relationship Id="rId1" Type="http://schemas.openxmlformats.org/officeDocument/2006/relationships/oleObject" Target="file:///C:\Users\user\Desktop\newdashboard.xlsx" TargetMode="External"/></Relationships>
</file>

<file path=ppt/charts/_rels/chartEx2.xml.rels><?xml version="1.0" encoding="UTF-8" standalone="yes"?>
<Relationships xmlns="http://schemas.openxmlformats.org/package/2006/relationships"><Relationship Id="rId3" Type="http://schemas.microsoft.com/office/2011/relationships/chartColorStyle" Target="colors3.xml"/><Relationship Id="rId2" Type="http://schemas.microsoft.com/office/2011/relationships/chartStyle" Target="style3.xml"/><Relationship Id="rId1" Type="http://schemas.openxmlformats.org/officeDocument/2006/relationships/oleObject" Target="file:///C:\Users\user\Desktop\newdashboard.xlsx" TargetMode="Externa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[newdashboard.xlsx]Pivot Table5!PivotTable3</c:name>
    <c:fmtId val="32"/>
  </c:pivotSource>
  <c:chart>
    <c:autoTitleDeleted val="1"/>
    <c:pivotFmts>
      <c:pivotFmt>
        <c:idx val="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>
              <a:lumMod val="40000"/>
              <a:lumOff val="60000"/>
            </a:schemeClr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050" b="1" i="0" u="none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1">
              <a:lumMod val="40000"/>
              <a:lumOff val="60000"/>
            </a:schemeClr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050" b="1" i="0" u="none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1">
              <a:lumMod val="40000"/>
              <a:lumOff val="60000"/>
            </a:schemeClr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050" b="1" i="0" u="none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solidFill>
            <a:schemeClr val="accent1">
              <a:lumMod val="40000"/>
              <a:lumOff val="60000"/>
            </a:schemeClr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050" b="1" i="0" u="none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'Pivot Table5'!$H$3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5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'Pivot Table5'!$G$4:$G$8</c:f>
              <c:strCache>
                <c:ptCount val="4"/>
                <c:pt idx="0">
                  <c:v>Qtr1</c:v>
                </c:pt>
                <c:pt idx="1">
                  <c:v>Qtr2</c:v>
                </c:pt>
                <c:pt idx="2">
                  <c:v>Qtr3</c:v>
                </c:pt>
                <c:pt idx="3">
                  <c:v>Qtr4</c:v>
                </c:pt>
              </c:strCache>
            </c:strRef>
          </c:cat>
          <c:val>
            <c:numRef>
              <c:f>'Pivot Table5'!$H$4:$H$8</c:f>
              <c:numCache>
                <c:formatCode>General</c:formatCode>
                <c:ptCount val="4"/>
                <c:pt idx="0">
                  <c:v>2414032</c:v>
                </c:pt>
                <c:pt idx="1">
                  <c:v>2368180</c:v>
                </c:pt>
                <c:pt idx="2">
                  <c:v>3095380</c:v>
                </c:pt>
                <c:pt idx="3">
                  <c:v>1965450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288-4976-8E14-CF9481C809B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82"/>
        <c:axId val="511368783"/>
        <c:axId val="511365903"/>
      </c:barChart>
      <c:catAx>
        <c:axId val="511368783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50" b="1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511365903"/>
        <c:crosses val="autoZero"/>
        <c:auto val="1"/>
        <c:lblAlgn val="ctr"/>
        <c:lblOffset val="100"/>
        <c:noMultiLvlLbl val="0"/>
      </c:catAx>
      <c:valAx>
        <c:axId val="511365903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511368783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Ex1.xml><?xml version="1.0" encoding="utf-8"?>
<cx:chartSpace xmlns:a="http://schemas.openxmlformats.org/drawingml/2006/main" xmlns:r="http://schemas.openxmlformats.org/officeDocument/2006/relationships" xmlns:cx="http://schemas.microsoft.com/office/drawing/2014/chartex">
  <cx:chartData>
    <cx:externalData r:id="rId1" cx:autoUpdate="0"/>
    <cx:data id="0">
      <cx:strDim type="cat">
        <cx:f>'Pivot Table5'!$M$4:$M$9</cx:f>
        <cx:lvl ptCount="6">
          <cx:pt idx="0">Art</cx:pt>
          <cx:pt idx="1">Computer</cx:pt>
          <cx:pt idx="2">Electronics</cx:pt>
          <cx:pt idx="3">Mobiles</cx:pt>
          <cx:pt idx="4">Storage</cx:pt>
          <cx:pt idx="5">Grand Total</cx:pt>
        </cx:lvl>
      </cx:strDim>
      <cx:numDim type="val">
        <cx:f>'Pivot Table5'!$N$4:$N$9</cx:f>
        <cx:lvl ptCount="6" formatCode="[$₹-hi-IN]#,##0">
          <cx:pt idx="0">1974370</cx:pt>
          <cx:pt idx="1">1677384</cx:pt>
          <cx:pt idx="2">1999150</cx:pt>
          <cx:pt idx="3">2175180</cx:pt>
          <cx:pt idx="4">2016958</cx:pt>
          <cx:pt idx="5">9843042</cx:pt>
        </cx:lvl>
      </cx:numDim>
    </cx:data>
  </cx:chartData>
  <cx:chart>
    <cx:title pos="t" align="ctr" overlay="0">
      <cx:tx>
        <cx:txData>
          <cx:v>CATEGORY SALES</cx:v>
        </cx:txData>
      </cx:tx>
      <cx:txPr>
        <a:bodyPr spcFirstLastPara="1" vertOverflow="ellipsis" horzOverflow="overflow" wrap="square" lIns="0" tIns="0" rIns="0" bIns="0" anchor="ctr" anchorCtr="1"/>
        <a:lstStyle/>
        <a:p>
          <a:pPr algn="ctr" rtl="0">
            <a:defRPr/>
          </a:pPr>
          <a:r>
            <a:rPr lang="en-US" sz="1600" b="1" i="0" u="none" strike="noStrike" baseline="0">
              <a:solidFill>
                <a:schemeClr val="tx1"/>
              </a:solidFill>
              <a:latin typeface="Aptos Narrow" panose="02110004020202020204"/>
            </a:rPr>
            <a:t>CATEGORY SALES</a:t>
          </a:r>
        </a:p>
      </cx:txPr>
    </cx:title>
    <cx:plotArea>
      <cx:plotAreaRegion>
        <cx:series layoutId="waterfall" uniqueId="{B9327D2A-5410-4D42-A70E-C0D4F69945E4}">
          <cx:dataPt idx="5">
            <cx:spPr>
              <a:solidFill>
                <a:srgbClr val="156082">
                  <a:lumMod val="40000"/>
                  <a:lumOff val="60000"/>
                </a:srgbClr>
              </a:solidFill>
            </cx:spPr>
          </cx:dataPt>
          <cx:dataLabels pos="outEnd">
            <cx:txPr>
              <a:bodyPr spcFirstLastPara="1" vertOverflow="ellipsis" horzOverflow="overflow" wrap="square" lIns="0" tIns="0" rIns="0" bIns="0" anchor="ctr" anchorCtr="1"/>
              <a:lstStyle/>
              <a:p>
                <a:pPr algn="ctr" rtl="0">
                  <a:defRPr sz="1050" b="1"/>
                </a:pPr>
                <a:endParaRPr lang="en-US" sz="1050" b="1" i="0" u="none" strike="noStrike" baseline="0">
                  <a:solidFill>
                    <a:sysClr val="windowText" lastClr="000000">
                      <a:lumMod val="65000"/>
                      <a:lumOff val="35000"/>
                    </a:sysClr>
                  </a:solidFill>
                  <a:latin typeface="Aptos Narrow" panose="02110004020202020204"/>
                </a:endParaRPr>
              </a:p>
            </cx:txPr>
            <cx:visibility seriesName="0" categoryName="0" value="1"/>
          </cx:dataLabels>
          <cx:dataId val="0"/>
          <cx:layoutPr>
            <cx:subtotals>
              <cx:idx val="5"/>
            </cx:subtotals>
          </cx:layoutPr>
        </cx:series>
      </cx:plotAreaRegion>
      <cx:axis id="0">
        <cx:catScaling gapWidth="0.5"/>
        <cx:tickLabels/>
        <cx:txPr>
          <a:bodyPr spcFirstLastPara="1" vertOverflow="ellipsis" horzOverflow="overflow" wrap="square" lIns="0" tIns="0" rIns="0" bIns="0" anchor="ctr" anchorCtr="1"/>
          <a:lstStyle/>
          <a:p>
            <a:pPr algn="ctr" rtl="0">
              <a:defRPr sz="1050" b="1">
                <a:solidFill>
                  <a:schemeClr val="tx1"/>
                </a:solidFill>
              </a:defRPr>
            </a:pPr>
            <a:endParaRPr lang="en-US" sz="1050" b="1" i="0" u="none" strike="noStrike" baseline="0">
              <a:solidFill>
                <a:schemeClr val="tx1"/>
              </a:solidFill>
              <a:latin typeface="Aptos Narrow" panose="02110004020202020204"/>
            </a:endParaRPr>
          </a:p>
        </cx:txPr>
      </cx:axis>
      <cx:axis id="1" hidden="1">
        <cx:valScaling/>
        <cx:tickLabels/>
      </cx:axis>
    </cx:plotArea>
  </cx:chart>
</cx:chartSpace>
</file>

<file path=ppt/charts/chartEx2.xml><?xml version="1.0" encoding="utf-8"?>
<cx:chartSpace xmlns:a="http://schemas.openxmlformats.org/drawingml/2006/main" xmlns:r="http://schemas.openxmlformats.org/officeDocument/2006/relationships" xmlns:cx="http://schemas.microsoft.com/office/drawing/2014/chartex">
  <cx:chartData>
    <cx:externalData r:id="rId1" cx:autoUpdate="0"/>
    <cx:data id="0">
      <cx:strDim type="cat">
        <cx:f>'Pivot Table5'!$S$4:$S$9</cx:f>
        <cx:lvl ptCount="6">
          <cx:pt idx="0">Art</cx:pt>
          <cx:pt idx="1">Computer</cx:pt>
          <cx:pt idx="2">Electronics</cx:pt>
          <cx:pt idx="3">Mobiles</cx:pt>
          <cx:pt idx="4">Storage</cx:pt>
          <cx:pt idx="5">Grand Total</cx:pt>
        </cx:lvl>
      </cx:strDim>
      <cx:numDim type="size">
        <cx:f>'Pivot Table5'!$T$4:$T$9</cx:f>
        <cx:lvl ptCount="6" formatCode="General">
          <cx:pt idx="0">857.39999999999998</cx:pt>
          <cx:pt idx="1">821.60000000000002</cx:pt>
          <cx:pt idx="2">870</cx:pt>
          <cx:pt idx="3">842.20000000000005</cx:pt>
          <cx:pt idx="4">888.60000000000002</cx:pt>
          <cx:pt idx="5">4279.8000000000002</cx:pt>
        </cx:lvl>
      </cx:numDim>
    </cx:data>
  </cx:chartData>
  <cx:chart>
    <cx:title pos="t" align="ctr" overlay="0">
      <cx:tx>
        <cx:txData>
          <cx:v>QTY SALES</cx:v>
        </cx:txData>
      </cx:tx>
      <cx:txPr>
        <a:bodyPr spcFirstLastPara="1" vertOverflow="ellipsis" horzOverflow="overflow" wrap="square" lIns="0" tIns="0" rIns="0" bIns="0" anchor="ctr" anchorCtr="1"/>
        <a:lstStyle/>
        <a:p>
          <a:pPr algn="ctr" rtl="0">
            <a:defRPr/>
          </a:pPr>
          <a:r>
            <a:rPr lang="en-US" sz="1600" b="1" i="0" u="none" strike="noStrike" baseline="0">
              <a:solidFill>
                <a:schemeClr val="tx1"/>
              </a:solidFill>
              <a:latin typeface="Aptos Narrow" panose="02110004020202020204"/>
            </a:rPr>
            <a:t>QTY SALES</a:t>
          </a:r>
        </a:p>
      </cx:txPr>
    </cx:title>
    <cx:plotArea>
      <cx:plotAreaRegion>
        <cx:series layoutId="treemap" uniqueId="{98ECDA5F-3D7C-448D-A1FA-60C5E0A1A2E3}">
          <cx:dataLabels>
            <cx:txPr>
              <a:bodyPr spcFirstLastPara="1" vertOverflow="ellipsis" horzOverflow="overflow" wrap="square" lIns="0" tIns="0" rIns="0" bIns="0" anchor="ctr" anchorCtr="1"/>
              <a:lstStyle/>
              <a:p>
                <a:pPr algn="ctr" rtl="0">
                  <a:defRPr sz="1050" b="1">
                    <a:solidFill>
                      <a:schemeClr val="tx1"/>
                    </a:solidFill>
                  </a:defRPr>
                </a:pPr>
                <a:endParaRPr lang="en-US" sz="1050" b="1" i="0" u="none" strike="noStrike" baseline="0">
                  <a:solidFill>
                    <a:schemeClr val="tx1"/>
                  </a:solidFill>
                  <a:latin typeface="Aptos Narrow" panose="02110004020202020204"/>
                </a:endParaRPr>
              </a:p>
            </cx:txPr>
            <cx:visibility seriesName="0" categoryName="1" value="1"/>
            <cx:separator>, </cx:separator>
          </cx:dataLabels>
          <cx:dataId val="0"/>
          <cx:layoutPr>
            <cx:parentLabelLayout val="overlapping"/>
          </cx:layoutPr>
        </cx:series>
      </cx:plotAreaRegion>
    </cx:plotArea>
  </cx:chart>
</cx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withinLinear" id="17">
  <a:schemeClr val="accent4"/>
</cs:colorStyle>
</file>

<file path=ppt/charts/style1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395">
  <cs:axisTitle>
    <cs:lnRef idx="0"/>
    <cs:fillRef idx="0"/>
    <cs:effectRef idx="0"/>
    <cs:fontRef idx="minor">
      <a:schemeClr val="tx1">
        <a:lumMod val="65000"/>
        <a:lumOff val="35000"/>
      </a:schemeClr>
    </cs:fontRef>
    <cs:defRPr sz="9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/>
  </cs:chartArea>
  <cs:dataLabel>
    <cs:lnRef idx="0"/>
    <cs:fillRef idx="0"/>
    <cs:effectRef idx="0"/>
    <cs:fontRef idx="minor">
      <a:schemeClr val="tx1">
        <a:lumMod val="65000"/>
        <a:lumOff val="35000"/>
      </a:schemeClr>
    </cs:fontRef>
    <cs:defRPr sz="9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9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/>
  </cs:seriesAxis>
  <cs:seriesLine>
    <cs:lnRef idx="0"/>
    <cs:fillRef idx="0"/>
    <cs:effectRef idx="0"/>
    <cs:fontRef idx="minor">
      <a:schemeClr val="tx1"/>
    </cs:fontRef>
    <cs:spPr>
      <a:ln w="9525" cap="flat">
        <a:solidFill>
          <a:srgbClr val="D9D9D9"/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/>
  </cs:valueAxis>
  <cs:wall>
    <cs:lnRef idx="0"/>
    <cs:fillRef idx="0"/>
    <cs:effectRef idx="0"/>
    <cs:fontRef idx="minor">
      <a:schemeClr val="tx1"/>
    </cs:fontRef>
  </cs:wall>
</cs:chartStyle>
</file>

<file path=ppt/charts/style3.xml><?xml version="1.0" encoding="utf-8"?>
<cs:chartStyle xmlns:cs="http://schemas.microsoft.com/office/drawing/2012/chartStyle" xmlns:a="http://schemas.openxmlformats.org/drawingml/2006/main" id="410">
  <cs:axisTitle>
    <cs:lnRef idx="0"/>
    <cs:fillRef idx="0"/>
    <cs:effectRef idx="0"/>
    <cs:fontRef idx="minor">
      <a:schemeClr val="tx1">
        <a:lumMod val="65000"/>
        <a:lumOff val="35000"/>
      </a:schemeClr>
    </cs:fontRef>
    <cs:spPr>
      <a:solidFill>
        <a:schemeClr val="bg1">
          <a:lumMod val="65000"/>
        </a:schemeClr>
      </a:solidFill>
      <a:ln w="19050">
        <a:solidFill>
          <a:schemeClr val="bg1"/>
        </a:solidFill>
      </a:ln>
    </cs:spPr>
    <cs:defRPr sz="9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/>
  </cs:chartArea>
  <cs:dataLabel>
    <cs:lnRef idx="0"/>
    <cs:fillRef idx="0"/>
    <cs:effectRef idx="0"/>
    <cs:fontRef idx="minor">
      <a:schemeClr val="lt1"/>
    </cs:fontRef>
    <cs:defRPr sz="9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19050">
        <a:solidFill>
          <a:schemeClr val="lt1"/>
        </a:solidFill>
      </a:ln>
    </cs:spPr>
  </cs:dataPoint>
  <cs:dataPoint3D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9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/>
  </cs:seriesAxis>
  <cs:seriesLine>
    <cs:lnRef idx="0"/>
    <cs:fillRef idx="0"/>
    <cs:effectRef idx="0"/>
    <cs:fontRef idx="minor">
      <a:schemeClr val="tx1"/>
    </cs:fontRef>
    <cs:spPr>
      <a:ln w="9525" cap="flat">
        <a:solidFill>
          <a:srgbClr val="D9D9D9"/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/>
  </cs:valueAxis>
  <cs:wall>
    <cs:lnRef idx="0"/>
    <cs:fillRef idx="0"/>
    <cs:effectRef idx="0"/>
    <cs:fontRef idx="minor">
      <a:schemeClr val="tx1"/>
    </cs:fontRef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D79344-270A-C2E2-FEB8-6231E0A0BE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D4DA606-5BE5-ADC4-7D47-F4D0CD4DC16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6B9AF9-BB69-67F9-132A-629886E5D1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7BEBAB-0414-441C-A48F-566545B2A90D}" type="datetimeFigureOut">
              <a:rPr lang="en-US" smtClean="0"/>
              <a:t>1/10/2026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CF3362-1A4B-65A4-B33C-A4844051A0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7F2297-A2AA-849F-118C-A11B0C208C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24A1C3-3FF5-4CFC-920F-353BCCFB47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15650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741E36-15AB-A62B-AF43-2DB0E1CE7C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8FBB08-DCA2-2F0E-DA39-40090964D7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C4B4B9-7533-619D-6FB4-AA9D167D8F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7BEBAB-0414-441C-A48F-566545B2A90D}" type="datetimeFigureOut">
              <a:rPr lang="en-US" smtClean="0"/>
              <a:t>1/10/2026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0AA1B2-F6A5-8584-5EB8-6B3B653F91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7FBE74-AF4B-E2AA-1C6A-3F2AE6FE63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24A1C3-3FF5-4CFC-920F-353BCCFB47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04988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6A6F24-A38B-1182-C7A0-F8E00A0121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C6D4FAA-D54B-0926-CFAF-547E5669DF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9A27D6-21A1-2493-83CF-2A03CE65A7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7BEBAB-0414-441C-A48F-566545B2A90D}" type="datetimeFigureOut">
              <a:rPr lang="en-US" smtClean="0"/>
              <a:t>1/10/2026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AA8C4A-02AA-F6E1-EFE0-13021070A9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226C26-1ED7-FC4E-D6F5-4FEDFBAF89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24A1C3-3FF5-4CFC-920F-353BCCFB47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36775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CD1039-A406-D8FA-0CBD-E8BFAE947A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BE404A-7833-55E3-71A9-699DBC4ECDA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863B609-EC54-7E4F-72AE-D51FE2FD71D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C50132E-FB3B-264B-3D97-C3BA76BCA8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7BEBAB-0414-441C-A48F-566545B2A90D}" type="datetimeFigureOut">
              <a:rPr lang="en-US" smtClean="0"/>
              <a:t>1/10/2026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9189100-3D8B-5A57-3BDA-97675FE9DF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66512F0-5FC6-106E-3EBC-F0603BEB0E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24A1C3-3FF5-4CFC-920F-353BCCFB47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65414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1BAABC-40B8-52E7-27A6-17889086B4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576A9E0-37DB-D35F-3F46-06AEB8B9DE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EA9FB02-7D2F-E6A6-C5D2-24DAF6733BE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ED91098-057C-5740-A78E-8843E1B09AA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C577EEA-3169-4146-A8DE-C9D6223C8CB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C883645-C1D5-EF6D-893D-7253F9B64D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7BEBAB-0414-441C-A48F-566545B2A90D}" type="datetimeFigureOut">
              <a:rPr lang="en-US" smtClean="0"/>
              <a:t>1/10/2026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A658968-14AB-F0F6-F7A3-C52A0C9683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B61E75D-AF01-7BE7-2BFE-B1498D58EA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24A1C3-3FF5-4CFC-920F-353BCCFB47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38957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019D74-0637-10A2-60A7-80421A1193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8D5BC2-A9A4-6DF5-3C53-A513FEE43B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7BEBAB-0414-441C-A48F-566545B2A90D}" type="datetimeFigureOut">
              <a:rPr lang="en-US" smtClean="0"/>
              <a:t>1/10/2026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C34D7F5-502E-1879-7AA2-7C3B2E229F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C4C2C38-9524-486E-78F1-9CDEF50313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24A1C3-3FF5-4CFC-920F-353BCCFB47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69905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64BF15-E2FE-E111-F779-147363E067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7BEBAB-0414-441C-A48F-566545B2A90D}" type="datetimeFigureOut">
              <a:rPr lang="en-US" smtClean="0"/>
              <a:t>1/10/2026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923A99B-0BEC-D8FE-6C04-3AA6E44D9D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9681DE7-0354-6C36-DEF9-D2F9ACABC5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24A1C3-3FF5-4CFC-920F-353BCCFB47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34259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994F4B-9ADF-F1D7-437E-5AAC6177F9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742BBE-5A70-EE53-D40B-61D775654F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01FEBEF-39FA-EC6D-DC14-97D0A0ACA0E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83F97BF-F095-8C72-24FD-9246924C48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7BEBAB-0414-441C-A48F-566545B2A90D}" type="datetimeFigureOut">
              <a:rPr lang="en-US" smtClean="0"/>
              <a:t>1/10/2026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F82F7F9-0534-6E14-CCAB-F6F786CB87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A51D826-8A48-A9D3-7BAD-FBB83502DC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24A1C3-3FF5-4CFC-920F-353BCCFB47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3831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FD5991-0E4E-ECF1-2B40-84500734F9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03569D4-6D35-3DC8-E16D-852DC781BBA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932AB4E-CA01-A581-811C-6E2593537AB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F4670D9-63A8-0D7A-B2D8-3189B51FDD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7BEBAB-0414-441C-A48F-566545B2A90D}" type="datetimeFigureOut">
              <a:rPr lang="en-US" smtClean="0"/>
              <a:t>1/10/2026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81FA932-BBF0-000A-C2B2-02A12580FB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5E72AC4-6338-C980-598A-33F1A86196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24A1C3-3FF5-4CFC-920F-353BCCFB47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9059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6CECE8-F415-82AA-6F37-155E056BE0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F6B752D-E6FA-1721-8F81-B3B9583A9C2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EF52D9-77EC-C1F5-CF3E-DD50F3A479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7BEBAB-0414-441C-A48F-566545B2A90D}" type="datetimeFigureOut">
              <a:rPr lang="en-US" smtClean="0"/>
              <a:t>1/10/2026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E5B904-9717-30FF-B523-1F460A76FC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E1C62B-7957-782B-2085-D704B8293F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24A1C3-3FF5-4CFC-920F-353BCCFB47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69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A0C005A-FBCF-4447-A87B-E9665549EDE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FFA5D5B-37F5-1AA7-1912-574BAD1BAB8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057B99-66E6-5CBE-2566-B5AC33C640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7BEBAB-0414-441C-A48F-566545B2A90D}" type="datetimeFigureOut">
              <a:rPr lang="en-US" smtClean="0"/>
              <a:t>1/10/2026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76D4EF-6F5E-E18E-CB9F-0077A73091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3BE0B5-D87A-9E4B-E459-6CA381A202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24A1C3-3FF5-4CFC-920F-353BCCFB47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01578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1F5C660-4EA2-2083-212D-E89284EAA5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88277D9-8BDD-4401-F814-C5C0D28B2A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A84748-118B-76F1-18ED-2A91732D555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77BEBAB-0414-441C-A48F-566545B2A90D}" type="datetimeFigureOut">
              <a:rPr lang="en-US" smtClean="0"/>
              <a:t>1/10/2026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5EC88B-C58F-F88F-CFF4-BE800383A0F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1D1904-E479-00B6-E8DE-7EEC83FF24E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024A1C3-3FF5-4CFC-920F-353BCCFB47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55974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13" Type="http://schemas.openxmlformats.org/officeDocument/2006/relationships/image" Target="../media/image9.png"/><Relationship Id="rId3" Type="http://schemas.openxmlformats.org/officeDocument/2006/relationships/image" Target="../media/image2.emf"/><Relationship Id="rId7" Type="http://schemas.microsoft.com/office/2014/relationships/chartEx" Target="../charts/chartEx1.xml"/><Relationship Id="rId12" Type="http://schemas.openxmlformats.org/officeDocument/2006/relationships/image" Target="../media/image8.png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1.xml"/><Relationship Id="rId6" Type="http://schemas.openxmlformats.org/officeDocument/2006/relationships/chart" Target="../charts/chart1.xml"/><Relationship Id="rId11" Type="http://schemas.openxmlformats.org/officeDocument/2006/relationships/image" Target="../media/image7.png"/><Relationship Id="rId5" Type="http://schemas.openxmlformats.org/officeDocument/2006/relationships/image" Target="../media/image4.emf"/><Relationship Id="rId10" Type="http://schemas.openxmlformats.org/officeDocument/2006/relationships/image" Target="../media/image6.png"/><Relationship Id="rId4" Type="http://schemas.openxmlformats.org/officeDocument/2006/relationships/image" Target="../media/image3.emf"/><Relationship Id="rId9" Type="http://schemas.microsoft.com/office/2014/relationships/chartEx" Target="../charts/chartEx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46580043-8704-24AD-6DAE-17DE6E4C984D}"/>
              </a:ext>
            </a:extLst>
          </p:cNvPr>
          <p:cNvSpPr/>
          <p:nvPr/>
        </p:nvSpPr>
        <p:spPr>
          <a:xfrm>
            <a:off x="-5974" y="900113"/>
            <a:ext cx="12477750" cy="527685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en-US" sz="110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25AA8EC-895E-4818-3647-1200ECCD0163}"/>
              </a:ext>
            </a:extLst>
          </p:cNvPr>
          <p:cNvSpPr/>
          <p:nvPr/>
        </p:nvSpPr>
        <p:spPr>
          <a:xfrm>
            <a:off x="79751" y="938213"/>
            <a:ext cx="12353925" cy="61912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800" b="1">
                <a:solidFill>
                  <a:schemeClr val="tx1"/>
                </a:solidFill>
              </a:rPr>
              <a:t>Dynamic</a:t>
            </a:r>
            <a:r>
              <a:rPr lang="en-US" sz="2800" b="1" baseline="0">
                <a:solidFill>
                  <a:schemeClr val="tx1"/>
                </a:solidFill>
              </a:rPr>
              <a:t> Dashboard </a:t>
            </a:r>
            <a:endParaRPr lang="en-US" sz="2800" b="1">
              <a:solidFill>
                <a:schemeClr val="tx1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E715A2F-7CE9-5162-7DEF-CB027787126D}"/>
              </a:ext>
            </a:extLst>
          </p:cNvPr>
          <p:cNvSpPr/>
          <p:nvPr/>
        </p:nvSpPr>
        <p:spPr>
          <a:xfrm>
            <a:off x="79751" y="2963863"/>
            <a:ext cx="4610100" cy="315595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en-US" sz="110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388E122-BE22-41C4-FA3C-C15E50A158C2}"/>
              </a:ext>
            </a:extLst>
          </p:cNvPr>
          <p:cNvSpPr/>
          <p:nvPr/>
        </p:nvSpPr>
        <p:spPr>
          <a:xfrm>
            <a:off x="9065001" y="2976563"/>
            <a:ext cx="3333750" cy="31623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800" b="1">
                <a:solidFill>
                  <a:schemeClr val="tx1"/>
                </a:solidFill>
              </a:rPr>
              <a:t>FILTERS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E7E340D-E5D5-FA90-DA07-7E14C251C1B1}"/>
              </a:ext>
            </a:extLst>
          </p:cNvPr>
          <p:cNvSpPr/>
          <p:nvPr/>
        </p:nvSpPr>
        <p:spPr>
          <a:xfrm>
            <a:off x="79751" y="1595438"/>
            <a:ext cx="2000250" cy="13335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600" b="1">
                <a:solidFill>
                  <a:schemeClr val="tx1"/>
                </a:solidFill>
              </a:rPr>
              <a:t>SALES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835576C-24FD-A9F9-76EE-8CB3E824BA06}"/>
              </a:ext>
            </a:extLst>
          </p:cNvPr>
          <p:cNvSpPr/>
          <p:nvPr/>
        </p:nvSpPr>
        <p:spPr>
          <a:xfrm>
            <a:off x="8258551" y="1595438"/>
            <a:ext cx="4133850" cy="133985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400" b="1">
                <a:solidFill>
                  <a:schemeClr val="tx1"/>
                </a:solidFill>
              </a:rPr>
              <a:t>QUARTERLEY</a:t>
            </a:r>
            <a:r>
              <a:rPr lang="en-US" sz="1400" b="1" baseline="0">
                <a:solidFill>
                  <a:schemeClr val="tx1"/>
                </a:solidFill>
              </a:rPr>
              <a:t> SALES</a:t>
            </a:r>
            <a:endParaRPr lang="en-US" sz="1400" b="1">
              <a:solidFill>
                <a:schemeClr val="tx1"/>
              </a:solidFill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69BCA3C-C6DB-102C-6AB9-1C6F2D6630CE}"/>
              </a:ext>
            </a:extLst>
          </p:cNvPr>
          <p:cNvSpPr/>
          <p:nvPr/>
        </p:nvSpPr>
        <p:spPr>
          <a:xfrm>
            <a:off x="4710489" y="2967038"/>
            <a:ext cx="4333875" cy="314325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en-US" sz="110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7D4B92A-57A4-8B63-5476-8B87C9178E9E}"/>
              </a:ext>
            </a:extLst>
          </p:cNvPr>
          <p:cNvSpPr/>
          <p:nvPr/>
        </p:nvSpPr>
        <p:spPr>
          <a:xfrm>
            <a:off x="2132389" y="1585913"/>
            <a:ext cx="2000250" cy="13335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600" b="1">
                <a:solidFill>
                  <a:schemeClr val="tx1"/>
                </a:solidFill>
              </a:rPr>
              <a:t>ORDERS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5B9AA0A-3AED-2069-4B6B-C613C65840D7}"/>
              </a:ext>
            </a:extLst>
          </p:cNvPr>
          <p:cNvSpPr/>
          <p:nvPr/>
        </p:nvSpPr>
        <p:spPr>
          <a:xfrm>
            <a:off x="4167564" y="1595438"/>
            <a:ext cx="1998662" cy="13335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600" b="1">
                <a:solidFill>
                  <a:schemeClr val="tx1"/>
                </a:solidFill>
              </a:rPr>
              <a:t>QTY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FB55316-A0E2-B193-A989-BB9F04F8E49A}"/>
              </a:ext>
            </a:extLst>
          </p:cNvPr>
          <p:cNvSpPr/>
          <p:nvPr/>
        </p:nvSpPr>
        <p:spPr>
          <a:xfrm>
            <a:off x="6218614" y="1595438"/>
            <a:ext cx="1998662" cy="13335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600" b="1">
                <a:solidFill>
                  <a:schemeClr val="tx1"/>
                </a:solidFill>
              </a:rPr>
              <a:t>PROFIT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D6BD34D-48BC-37A6-1875-FC38DAA5FCB3}"/>
              </a:ext>
            </a:extLst>
          </p:cNvPr>
          <p:cNvSpPr/>
          <p:nvPr/>
        </p:nvSpPr>
        <p:spPr>
          <a:xfrm>
            <a:off x="194051" y="1909763"/>
            <a:ext cx="1781175" cy="50482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B5C1ACDD-74A9-4976-9E8B-766E1A2EBE33}" type="TxLink">
              <a:rPr lang="en-US" sz="1600" b="1" i="0" u="none" strike="noStrike">
                <a:solidFill>
                  <a:srgbClr val="000000"/>
                </a:solidFill>
                <a:latin typeface="Aptos Narrow"/>
              </a:rPr>
              <a:pPr algn="ctr"/>
              <a:t> ₹ 9,843,042 </a:t>
            </a:fld>
            <a:endParaRPr lang="en-US" sz="1600" b="1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343E836-90E8-435D-D8DB-67578B846D37}"/>
              </a:ext>
            </a:extLst>
          </p:cNvPr>
          <p:cNvSpPr/>
          <p:nvPr/>
        </p:nvSpPr>
        <p:spPr>
          <a:xfrm>
            <a:off x="2224464" y="1900238"/>
            <a:ext cx="1781175" cy="50482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57E66866-B72D-4006-AC7C-0FF928A4AB91}" type="TxLink">
              <a:rPr lang="en-US" sz="1600" b="1" i="0" u="none" strike="noStrike">
                <a:solidFill>
                  <a:srgbClr val="000000"/>
                </a:solidFill>
                <a:latin typeface="Aptos Narrow"/>
              </a:rPr>
              <a:pPr algn="ctr"/>
              <a:t>981</a:t>
            </a:fld>
            <a:endParaRPr lang="en-US" sz="1600" b="1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F060C369-3116-96D2-2853-072E8531A65F}"/>
              </a:ext>
            </a:extLst>
          </p:cNvPr>
          <p:cNvSpPr/>
          <p:nvPr/>
        </p:nvSpPr>
        <p:spPr>
          <a:xfrm>
            <a:off x="4291389" y="1909763"/>
            <a:ext cx="1781175" cy="50482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4CB32D25-4763-4C3A-B8F5-BD0C9E9FE4B7}" type="TxLink">
              <a:rPr lang="en-US" sz="1600" b="1" i="0" u="none" strike="noStrike">
                <a:solidFill>
                  <a:srgbClr val="000000"/>
                </a:solidFill>
                <a:latin typeface="Aptos Narrow"/>
              </a:rPr>
              <a:pPr algn="ctr"/>
              <a:t>4279.8</a:t>
            </a:fld>
            <a:endParaRPr lang="en-US" sz="1600" b="1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8B3C535-CA11-0775-638A-D2175B7F455D}"/>
              </a:ext>
            </a:extLst>
          </p:cNvPr>
          <p:cNvSpPr/>
          <p:nvPr/>
        </p:nvSpPr>
        <p:spPr>
          <a:xfrm>
            <a:off x="6321801" y="1909763"/>
            <a:ext cx="1781175" cy="50482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11D85045-9C9F-42F6-953E-3370DCC30BF2}" type="TxLink">
              <a:rPr lang="en-US" sz="1600" b="1" i="0" u="none" strike="noStrike">
                <a:solidFill>
                  <a:srgbClr val="000000"/>
                </a:solidFill>
                <a:latin typeface="Aptos Narrow"/>
              </a:rPr>
              <a:pPr algn="ctr"/>
              <a:t> ₹ 984,304 </a:t>
            </a:fld>
            <a:endParaRPr lang="en-US" sz="1600" b="1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54B2B842-B658-3C8D-CCCE-BCDD45CF05F8}"/>
              </a:ext>
            </a:extLst>
          </p:cNvPr>
          <p:cNvPicPr>
            <a:picLocks noChangeAspect="1" noChangeArrowheads="1"/>
            <a:extLst>
              <a:ext uri="{84589F7E-364E-4C9E-8A38-B11213B215E9}">
                <a14:cameraTool xmlns:a14="http://schemas.microsoft.com/office/drawing/2010/main" cellRange=""/>
              </a:ext>
            </a:extLst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94051" y="2443163"/>
            <a:ext cx="1800225" cy="438150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0D5ED0BB-F17E-17FD-1511-6772BBD63A19}"/>
              </a:ext>
            </a:extLst>
          </p:cNvPr>
          <p:cNvPicPr>
            <a:picLocks noChangeAspect="1" noChangeArrowheads="1"/>
            <a:extLst>
              <a:ext uri="{84589F7E-364E-4C9E-8A38-B11213B215E9}">
                <a14:cameraTool xmlns:a14="http://schemas.microsoft.com/office/drawing/2010/main" cellRange=""/>
              </a:ext>
            </a:extLst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214939" y="2443163"/>
            <a:ext cx="1790700" cy="428625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BCCA2A15-AAB5-8256-A04A-7CEC28F1C032}"/>
              </a:ext>
            </a:extLst>
          </p:cNvPr>
          <p:cNvPicPr>
            <a:picLocks noChangeAspect="1" noChangeArrowheads="1"/>
            <a:extLst>
              <a:ext uri="{84589F7E-364E-4C9E-8A38-B11213B215E9}">
                <a14:cameraTool xmlns:a14="http://schemas.microsoft.com/office/drawing/2010/main" cellRange=""/>
              </a:ext>
            </a:extLst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4281864" y="2424113"/>
            <a:ext cx="1828800" cy="466725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B46E27A4-134F-A52B-E109-6278498CFAD5}"/>
              </a:ext>
            </a:extLst>
          </p:cNvPr>
          <p:cNvPicPr>
            <a:picLocks noChangeAspect="1" noChangeArrowheads="1"/>
            <a:extLst>
              <a:ext uri="{84589F7E-364E-4C9E-8A38-B11213B215E9}">
                <a14:cameraTool xmlns:a14="http://schemas.microsoft.com/office/drawing/2010/main" cellRange=""/>
              </a:ext>
            </a:extLst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6331326" y="2443163"/>
            <a:ext cx="1781175" cy="428625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23" name="Chart 22">
            <a:extLst>
              <a:ext uri="{FF2B5EF4-FFF2-40B4-BE49-F238E27FC236}">
                <a16:creationId xmlns:a16="http://schemas.microsoft.com/office/drawing/2014/main" id="{CA4DF8F3-6E28-4E2C-877F-2D339A6F2D68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39083092"/>
              </p:ext>
            </p:extLst>
          </p:nvPr>
        </p:nvGraphicFramePr>
        <p:xfrm>
          <a:off x="8315701" y="1852613"/>
          <a:ext cx="4030663" cy="10572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mc:AlternateContent xmlns:mc="http://schemas.openxmlformats.org/markup-compatibility/2006">
        <mc:Choice xmlns:cx1="http://schemas.microsoft.com/office/drawing/2015/9/8/chartex" Requires="cx1">
          <p:graphicFrame>
            <p:nvGraphicFramePr>
              <p:cNvPr id="24" name="Chart 23">
                <a:extLst>
                  <a:ext uri="{FF2B5EF4-FFF2-40B4-BE49-F238E27FC236}">
                    <a16:creationId xmlns:a16="http://schemas.microsoft.com/office/drawing/2014/main" id="{1074523E-7823-48B6-AFFD-BEA8DF01CDFA}"/>
                  </a:ext>
                </a:extLst>
              </p:cNvPr>
              <p:cNvGraphicFramePr/>
              <p:nvPr>
                <p:extLst>
                  <p:ext uri="{D42A27DB-BD31-4B8C-83A1-F6EECF244321}">
                    <p14:modId xmlns:p14="http://schemas.microsoft.com/office/powerpoint/2010/main" val="2136217157"/>
                  </p:ext>
                </p:extLst>
              </p:nvPr>
            </p:nvGraphicFramePr>
            <p:xfrm>
              <a:off x="89276" y="2963863"/>
              <a:ext cx="4554538" cy="3108325"/>
            </p:xfrm>
            <a:graphic>
              <a:graphicData uri="http://schemas.microsoft.com/office/drawing/2014/chartex">
                <cx:chart xmlns:cx="http://schemas.microsoft.com/office/drawing/2014/chartex" xmlns:r="http://schemas.openxmlformats.org/officeDocument/2006/relationships" r:id="rId7"/>
              </a:graphicData>
            </a:graphic>
          </p:graphicFrame>
        </mc:Choice>
        <mc:Fallback>
          <p:pic>
            <p:nvPicPr>
              <p:cNvPr id="24" name="Chart 23">
                <a:extLst>
                  <a:ext uri="{FF2B5EF4-FFF2-40B4-BE49-F238E27FC236}">
                    <a16:creationId xmlns:a16="http://schemas.microsoft.com/office/drawing/2014/main" id="{1074523E-7823-48B6-AFFD-BEA8DF01CDFA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89276" y="2963863"/>
                <a:ext cx="4554538" cy="310832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cx1="http://schemas.microsoft.com/office/drawing/2015/9/8/chartex" Requires="cx1">
          <p:graphicFrame>
            <p:nvGraphicFramePr>
              <p:cNvPr id="25" name="Chart 24">
                <a:extLst>
                  <a:ext uri="{FF2B5EF4-FFF2-40B4-BE49-F238E27FC236}">
                    <a16:creationId xmlns:a16="http://schemas.microsoft.com/office/drawing/2014/main" id="{B80ECA7E-3C63-4C1C-AED9-B41813FD0BAE}"/>
                  </a:ext>
                </a:extLst>
              </p:cNvPr>
              <p:cNvGraphicFramePr/>
              <p:nvPr>
                <p:extLst>
                  <p:ext uri="{D42A27DB-BD31-4B8C-83A1-F6EECF244321}">
                    <p14:modId xmlns:p14="http://schemas.microsoft.com/office/powerpoint/2010/main" val="2393777869"/>
                  </p:ext>
                </p:extLst>
              </p:nvPr>
            </p:nvGraphicFramePr>
            <p:xfrm>
              <a:off x="4710489" y="2967038"/>
              <a:ext cx="4278312" cy="3114675"/>
            </p:xfrm>
            <a:graphic>
              <a:graphicData uri="http://schemas.microsoft.com/office/drawing/2014/chartex">
                <cx:chart xmlns:cx="http://schemas.microsoft.com/office/drawing/2014/chartex" xmlns:r="http://schemas.openxmlformats.org/officeDocument/2006/relationships" r:id="rId9"/>
              </a:graphicData>
            </a:graphic>
          </p:graphicFrame>
        </mc:Choice>
        <mc:Fallback>
          <p:pic>
            <p:nvPicPr>
              <p:cNvPr id="25" name="Chart 24">
                <a:extLst>
                  <a:ext uri="{FF2B5EF4-FFF2-40B4-BE49-F238E27FC236}">
                    <a16:creationId xmlns:a16="http://schemas.microsoft.com/office/drawing/2014/main" id="{B80ECA7E-3C63-4C1C-AED9-B41813FD0BAE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4710489" y="2967038"/>
                <a:ext cx="4278312" cy="3114675"/>
              </a:xfrm>
              <a:prstGeom prst="rect">
                <a:avLst/>
              </a:prstGeom>
            </p:spPr>
          </p:pic>
        </mc:Fallback>
      </mc:AlternateContent>
      <p:pic>
        <p:nvPicPr>
          <p:cNvPr id="26" name="table">
            <a:extLst>
              <a:ext uri="{FF2B5EF4-FFF2-40B4-BE49-F238E27FC236}">
                <a16:creationId xmlns:a16="http://schemas.microsoft.com/office/drawing/2014/main" id="{DE167BBD-D6FD-2D63-5D60-2BFE245F2C80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130089" y="5300663"/>
            <a:ext cx="3208337" cy="800100"/>
          </a:xfrm>
          <a:prstGeom prst="rect">
            <a:avLst/>
          </a:prstGeom>
        </p:spPr>
      </p:pic>
      <p:pic>
        <p:nvPicPr>
          <p:cNvPr id="27" name="table">
            <a:extLst>
              <a:ext uri="{FF2B5EF4-FFF2-40B4-BE49-F238E27FC236}">
                <a16:creationId xmlns:a16="http://schemas.microsoft.com/office/drawing/2014/main" id="{388FD4C9-B288-BEBE-4514-76717D656975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111039" y="3367088"/>
            <a:ext cx="3246437" cy="923925"/>
          </a:xfrm>
          <a:prstGeom prst="rect">
            <a:avLst/>
          </a:prstGeom>
        </p:spPr>
      </p:pic>
      <p:pic>
        <p:nvPicPr>
          <p:cNvPr id="28" name="table">
            <a:extLst>
              <a:ext uri="{FF2B5EF4-FFF2-40B4-BE49-F238E27FC236}">
                <a16:creationId xmlns:a16="http://schemas.microsoft.com/office/drawing/2014/main" id="{9B659A08-312F-43D9-4ABA-E6F71C2C7B76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120564" y="4310063"/>
            <a:ext cx="3217862" cy="971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02906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17</Words>
  <Application>Microsoft Office PowerPoint</Application>
  <PresentationFormat>Widescreen</PresentationFormat>
  <Paragraphs>13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Aptos Narrow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user</dc:creator>
  <cp:lastModifiedBy>user</cp:lastModifiedBy>
  <cp:revision>2</cp:revision>
  <dcterms:created xsi:type="dcterms:W3CDTF">2026-01-10T12:07:31Z</dcterms:created>
  <dcterms:modified xsi:type="dcterms:W3CDTF">2026-01-10T12:18:13Z</dcterms:modified>
</cp:coreProperties>
</file>